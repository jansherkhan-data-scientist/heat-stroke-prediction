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Stroke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B8C0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Age</c:v>
                  </c:pt>
                  <c:pt idx="1">
                    <c:v>Hypertension</c:v>
                  </c:pt>
                  <c:pt idx="2">
                    <c:v>Heart Disease</c:v>
                  </c:pt>
                  <c:pt idx="3">
                    <c:v>Avg Glucose</c:v>
                  </c:pt>
                  <c:pt idx="4">
                    <c:v>BMI</c:v>
                  </c:pt>
                  <c:pt idx="5">
                    <c:v>Gender</c:v>
                  </c:pt>
                  <c:pt idx="6">
                    <c:v>Ever Married</c:v>
                  </c:pt>
                  <c:pt idx="7">
                    <c:v>Smoking Status</c:v>
                  </c:pt>
                  <c:pt idx="8">
                    <c:v>Residence</c:v>
                  </c:pt>
                  <c:pt idx="9">
                    <c:v>Work Type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0.25</c:v>
                </c:pt>
                <c:pt idx="1">
                  <c:v>0.13</c:v>
                </c:pt>
                <c:pt idx="2">
                  <c:v>0.13</c:v>
                </c:pt>
                <c:pt idx="3">
                  <c:v>0.13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0.01</c:v>
                </c:pt>
                <c:pt idx="8">
                  <c:v>0</c:v>
                </c:pt>
                <c:pt idx="9">
                  <c:v>-0.01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24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8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Support Vector Machine</c:v>
                  </c:pt>
                  <c:pt idx="2">
                    <c:v>K-Nearest Neighbors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93.93</c:v>
                </c:pt>
                <c:pt idx="1">
                  <c:v>93.93</c:v>
                </c:pt>
                <c:pt idx="2">
                  <c:v>93.74</c:v>
                </c:pt>
                <c:pt idx="3">
                  <c:v>90.99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F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583680" y="54864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Stroke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65760" y="16916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65760" y="2606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 Approach to Early Detection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" y="4480560"/>
            <a:ext cx="9070848" cy="66294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5262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• Scikit-Learn • Healthcare Data Analytics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4160520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4160520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3344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51560" y="4160520"/>
            <a:ext cx="109728" cy="109728"/>
          </a:xfrm>
          <a:prstGeom prst="ellipse">
            <a:avLst/>
          </a:prstGeom>
          <a:solidFill>
            <a:srgbClr val="3344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280160" y="4160520"/>
            <a:ext cx="109728" cy="109728"/>
          </a:xfrm>
          <a:prstGeom prst="ellipse">
            <a:avLst/>
          </a:prstGeom>
          <a:solidFill>
            <a:srgbClr val="3344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719072"/>
            <a:ext cx="548640" cy="54864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379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6916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to identify patients at high risk of stroke before symptoms appear.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719072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8379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 Analysis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32120" y="16916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health indicators and determine which factors contribute most to stroke occurrence.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8912" y="3547872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66674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97280" y="3520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SVM, Decision Tree &amp; KNN across accuracy, F1 score, and loss metrics.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547872"/>
            <a:ext cx="548640" cy="548640"/>
          </a:xfrm>
          <a:prstGeom prst="ellipse">
            <a:avLst/>
          </a:prstGeom>
          <a:solidFill>
            <a:srgbClr val="FB8C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66674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32120" y="3520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healthcare providers in designing early prevention and screening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103120" cy="155448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828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2606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Healthcare Stroke Dataset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051560"/>
          <a:ext cx="630936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Male, Female, Other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Age in years (0–82)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hypertension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0 = No, 1 =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Binary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heart_disease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0 = No, 1 =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Binary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ever_married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Yes /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work_type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Private, Self-employed, Govt, etc.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Residence_type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Urban / Rural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avg_glucose_level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Average glucose level (55–272 mg/dL)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bmi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Body Mass Index (10–97)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smoking_status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Formerly smoked / Never / Smokes / Unknown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stroke (Target)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0 = No Stroke, 1 = Stroke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Binary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64008" cy="1691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60020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 Column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00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ID field is a unique identifier — not relevant for pattern learning and removed from training.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97280"/>
            <a:ext cx="64008" cy="16916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873752" y="1600200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13832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3832" y="1600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column had 201 missing entries. Filled using Mode Imputation to maintain distribution integrity.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71800"/>
            <a:ext cx="64008" cy="16916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3474720"/>
            <a:ext cx="502920" cy="5029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474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categorical text variables (gender, marital status, residence, work type, smoking) into numeric codes.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971800"/>
            <a:ext cx="64008" cy="169164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73752" y="3474720"/>
            <a:ext cx="502920" cy="50292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13832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Binning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3474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grouped into 5 bins: Child (0–12), Teen (13–19), Young Adult (20–30), Adult (31–60), Senior (61–100).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Mapping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7863840" y="1005840"/>
            <a:ext cx="1005840" cy="10058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649224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2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Encoding Mapping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24A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Gender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Male = 1 | Female = 0 | Other =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Ever Married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Yes = 1 | No = 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Residence Type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Urban = 1 | Rural = 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Work Type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Private = 0 | Self-employed = 1 | Children = 2 | Govt_job = 3 | Never_worked = 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Smoking Status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Formerly smoked = 0 | Never smoked = 1 | Smokes = 2 | Unknown =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Binning Groups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4114800"/>
            <a:ext cx="1618488" cy="8229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1330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0040" y="449884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029968" y="4114800"/>
            <a:ext cx="1618488" cy="8229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7"/>
          <p:cNvSpPr/>
          <p:nvPr/>
        </p:nvSpPr>
        <p:spPr>
          <a:xfrm>
            <a:off x="2029968" y="41330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13–19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029968" y="449884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739896" y="4114800"/>
            <a:ext cx="161848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0"/>
          <p:cNvSpPr/>
          <p:nvPr/>
        </p:nvSpPr>
        <p:spPr>
          <a:xfrm>
            <a:off x="3739896" y="41330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39896" y="449884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49824" y="4114800"/>
            <a:ext cx="1618488" cy="82296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7" name="Text 13"/>
          <p:cNvSpPr/>
          <p:nvPr/>
        </p:nvSpPr>
        <p:spPr>
          <a:xfrm>
            <a:off x="5449824" y="41330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49824" y="449884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59752" y="4114800"/>
            <a:ext cx="1618488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6"/>
          <p:cNvSpPr/>
          <p:nvPr/>
        </p:nvSpPr>
        <p:spPr>
          <a:xfrm>
            <a:off x="7159752" y="41330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61–100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159752" y="449884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EDA (Exploratory Data Analysis)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Stroke Risk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4721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1508760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1508760"/>
            <a:ext cx="4114800" cy="23774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4721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47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984248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1984248"/>
            <a:ext cx="2139696" cy="23774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476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4231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2459736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2331720" y="2459736"/>
            <a:ext cx="2139696" cy="237744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42316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8986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Glucose Level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935224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2331720" y="2935224"/>
            <a:ext cx="2139696" cy="23774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8986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37413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 (BMI)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3410712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3410712"/>
            <a:ext cx="329184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3741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8496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Married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3886200"/>
            <a:ext cx="2286000" cy="2377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3886200"/>
            <a:ext cx="329184" cy="23774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8496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1005840"/>
            <a:ext cx="36576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49240" y="1078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Observations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52160" y="15087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Non-smokers showed higher stroke probability than active smokers — a counter-intuitive finding.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23134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52160" y="2313432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individuals displayed higher stroke incidence — possibly a confounding age factor.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1181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52160" y="3118104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 (BMI) between 20–50 correlated with elevated stroke risk.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39227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52160" y="3922776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residents showed marginally higher rates, likely due to lifestyle and stress.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Age is the strongest predictor of stroke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 Split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5852160" cy="6400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6172200" y="1508760"/>
            <a:ext cx="1463040" cy="6400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— 4,088 Samples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 — 1,022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31720"/>
            <a:ext cx="64008" cy="126187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679192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79349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(LR)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3000" y="277063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estimating probability of binary outcome using the sigmoid (logistic) function.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233172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331720"/>
            <a:ext cx="64008" cy="1261872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7" name="Shape 14"/>
          <p:cNvSpPr/>
          <p:nvPr/>
        </p:nvSpPr>
        <p:spPr>
          <a:xfrm>
            <a:off x="4937760" y="2679192"/>
            <a:ext cx="502920" cy="502920"/>
          </a:xfrm>
          <a:prstGeom prst="ellipse">
            <a:avLst/>
          </a:prstGeom>
          <a:solidFill>
            <a:srgbClr val="8E24A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27934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577840" y="277063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hyperplane that best separates classes in high-dimensional feature space.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374904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749040"/>
            <a:ext cx="64008" cy="126187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3" name="Shape 19"/>
          <p:cNvSpPr/>
          <p:nvPr/>
        </p:nvSpPr>
        <p:spPr>
          <a:xfrm>
            <a:off x="502920" y="4096512"/>
            <a:ext cx="502920" cy="50292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421081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38221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(DT)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43000" y="418795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partitioning algorithm that splits data based on feature thresholds to form a tree.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54880" y="374904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54880" y="3749040"/>
            <a:ext cx="64008" cy="1261872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9" name="Shape 24"/>
          <p:cNvSpPr/>
          <p:nvPr/>
        </p:nvSpPr>
        <p:spPr>
          <a:xfrm>
            <a:off x="4937760" y="4096512"/>
            <a:ext cx="502920" cy="502920"/>
          </a:xfrm>
          <a:prstGeom prst="ellipse">
            <a:avLst/>
          </a:prstGeom>
          <a:solidFill>
            <a:srgbClr val="FB8C0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421081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77840" y="38221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577840" y="418795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learner that classifies a data point by majority vote of its K nearest neighbors.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005840"/>
          <a:ext cx="3246120" cy="1691640"/>
        </p:xfrm>
        <a:graphic>
          <a:graphicData uri="http://schemas.openxmlformats.org/drawingml/2006/table">
            <a:tbl>
              <a:tblPr/>
              <a:tblGrid>
                <a:gridCol w="1691640"/>
                <a:gridCol w="594360"/>
                <a:gridCol w="594360"/>
                <a:gridCol w="5943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Log Loss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Logistic Regression (LR)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93.93%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2.19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Support Vector Machine (SVM)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93.93%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2.19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K-Nearest Neighbors (KNN)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93.74%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2.26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Decision Tree (DT)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90.99%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3.24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23560" y="2788920"/>
            <a:ext cx="3246120" cy="694944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623560" y="2788920"/>
            <a:ext cx="54864" cy="69494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4"/>
          <p:cNvSpPr/>
          <p:nvPr/>
        </p:nvSpPr>
        <p:spPr>
          <a:xfrm>
            <a:off x="5742432" y="2825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Tied for Best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42432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(LR) &amp; SVM both achieved 93.93% accuracy.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623560" y="3538728"/>
            <a:ext cx="3246120" cy="694944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0" y="3538728"/>
            <a:ext cx="54864" cy="69494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8"/>
          <p:cNvSpPr/>
          <p:nvPr/>
        </p:nvSpPr>
        <p:spPr>
          <a:xfrm>
            <a:off x="5742432" y="3575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Class Imbalance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742432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 for most models reveals the dataset heavily favors the non-stroke class.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623560" y="4288536"/>
            <a:ext cx="3246120" cy="694944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23560" y="4288536"/>
            <a:ext cx="54864" cy="69494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6" name="Text 12"/>
          <p:cNvSpPr/>
          <p:nvPr/>
        </p:nvSpPr>
        <p:spPr>
          <a:xfrm>
            <a:off x="5742432" y="43251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F1 Score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742432" y="4590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(DT) alone detected some stroke cases — F1 = 0.25 despite lower accuracy.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7432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Higher accuracy ≠ better model when data is imbalanced. F1 Score is critical for medical diagnostics.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All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187452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49961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7556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13432" y="1481328"/>
            <a:ext cx="1874520" cy="5486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0" name="Text 8"/>
          <p:cNvSpPr/>
          <p:nvPr/>
        </p:nvSpPr>
        <p:spPr>
          <a:xfrm>
            <a:off x="2313432" y="149961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13432" y="17556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187452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" y="23591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13432" y="2084832"/>
            <a:ext cx="18745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2313432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13432" y="23591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90872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82312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2312" y="1481328"/>
            <a:ext cx="187452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149961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82312" y="17556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748272" y="1481328"/>
            <a:ext cx="1874520" cy="5486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149961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48272" y="17556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82312" y="2084832"/>
            <a:ext cx="187452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82312" y="23591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48272" y="2084832"/>
            <a:ext cx="18745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48272" y="23591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3355848"/>
            <a:ext cx="187452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3741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7472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13432" y="3355848"/>
            <a:ext cx="1874520" cy="5486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38" name="Text 36"/>
          <p:cNvSpPr/>
          <p:nvPr/>
        </p:nvSpPr>
        <p:spPr>
          <a:xfrm>
            <a:off x="2313432" y="33741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313432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7472" y="3959352"/>
            <a:ext cx="187452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3977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47472" y="4233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313432" y="3959352"/>
            <a:ext cx="18745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2313432" y="3977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313432" y="4233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90872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82312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(DT)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82312" y="3355848"/>
            <a:ext cx="187452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4782312" y="33741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82312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48272" y="3355848"/>
            <a:ext cx="1874520" cy="5486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52" name="Text 50"/>
          <p:cNvSpPr/>
          <p:nvPr/>
        </p:nvSpPr>
        <p:spPr>
          <a:xfrm>
            <a:off x="6748272" y="33741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48272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82312" y="3959352"/>
            <a:ext cx="187452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4782312" y="3977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82312" y="4233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48272" y="3959352"/>
            <a:ext cx="18745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8" name="Text 56"/>
          <p:cNvSpPr/>
          <p:nvPr/>
        </p:nvSpPr>
        <p:spPr>
          <a:xfrm>
            <a:off x="6748272" y="3977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48272" y="4233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 Identified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1207008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1207008"/>
            <a:ext cx="4114800" cy="25603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1161288"/>
            <a:ext cx="1463040" cy="32918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1612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82496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682496"/>
            <a:ext cx="2971800" cy="256032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0920" y="1636776"/>
            <a:ext cx="1463040" cy="32918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16367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157984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2157984"/>
            <a:ext cx="2514600" cy="256032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0920" y="2112264"/>
            <a:ext cx="1463040" cy="32918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1122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596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633472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2651760" y="2633472"/>
            <a:ext cx="2377440" cy="25603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2587752"/>
            <a:ext cx="1463040" cy="32918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5877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(20–50)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3108960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3108960"/>
            <a:ext cx="2057400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3063240"/>
            <a:ext cx="1463040" cy="32918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0632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3584448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2651760" y="3584448"/>
            <a:ext cx="914400" cy="25603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0920" y="3538728"/>
            <a:ext cx="1463040" cy="32918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35387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Type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4059936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6" name="Shape 34"/>
          <p:cNvSpPr/>
          <p:nvPr/>
        </p:nvSpPr>
        <p:spPr>
          <a:xfrm>
            <a:off x="2651760" y="4059936"/>
            <a:ext cx="685800" cy="2560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4014216"/>
            <a:ext cx="1463040" cy="32918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40142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498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Type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51760" y="4535424"/>
            <a:ext cx="457200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2651760" y="4535424"/>
            <a:ext cx="228600" cy="2560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Shape 40"/>
          <p:cNvSpPr/>
          <p:nvPr/>
        </p:nvSpPr>
        <p:spPr>
          <a:xfrm>
            <a:off x="7360920" y="4489704"/>
            <a:ext cx="1463040" cy="32918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44897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&amp; Unexpected Findings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046720" y="100584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73152" cy="117043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Smoking Paradox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1790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Counter-intuitively, non-smokers showed HIGHER stroke probability than active smokers in this dataset. This likely reflects confounding variables — many former smokers were already older or had prior illness.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395728"/>
            <a:ext cx="73152" cy="1170432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468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Heart Disease Reversal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8163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visualizations, patients with lower reported heart disease correlated with increased stroke incidence. Suggests possible underdiagnosis or that other factors dominate the prediction.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3694176"/>
            <a:ext cx="73152" cy="117043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7673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Hypertension Anomaly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41148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paradoxical pattern was observed for hypertension in certain cross-plots. May indicate interactions with medication, reporting bias, or survivorship effects in the data.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Recommendation: These findings require a larger, more balanced dataset and deeper clinical investigation before drawing clinical conclusions.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Providers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572768"/>
            <a:ext cx="4069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elderly patients (age 61–100) as a top priority.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monitor blood pressure (hypertension) and cardiac history.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disregard non-smokers — they still carry meaningful risk.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average glucose level checks for at-risk groups.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572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elderly patients (age 61–100) as a top priority.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185416"/>
            <a:ext cx="118872" cy="11887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0939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monitor blood pressure (hypertension) and cardiac history.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06624"/>
            <a:ext cx="118872" cy="11887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6151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disregard non-smokers — they still carry meaningful risk.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227832"/>
            <a:ext cx="118872" cy="11887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1363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average glucose level checks for at-risk groups.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24128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Deployment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937760" y="1664208"/>
            <a:ext cx="118872" cy="1188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8" name="Text 14"/>
          <p:cNvSpPr/>
          <p:nvPr/>
        </p:nvSpPr>
        <p:spPr>
          <a:xfrm>
            <a:off x="5148072" y="1572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 (LR) or SVM as a baseline model in deployment.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937760" y="2185416"/>
            <a:ext cx="118872" cy="1188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0" name="Text 16"/>
          <p:cNvSpPr/>
          <p:nvPr/>
        </p:nvSpPr>
        <p:spPr>
          <a:xfrm>
            <a:off x="5148072" y="20939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(Synthetic Minority Oversampling Technique) to balance classes.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937760" y="2706624"/>
            <a:ext cx="118872" cy="1188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2" name="Text 18"/>
          <p:cNvSpPr/>
          <p:nvPr/>
        </p:nvSpPr>
        <p:spPr>
          <a:xfrm>
            <a:off x="5148072" y="26151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methods (Random Forest, XGBoost) for better minority detection.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937760" y="3227832"/>
            <a:ext cx="118872" cy="1188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4" name="Text 20"/>
          <p:cNvSpPr/>
          <p:nvPr/>
        </p:nvSpPr>
        <p:spPr>
          <a:xfrm>
            <a:off x="5148072" y="31363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retrain models as new patient records are collected.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572000" y="1005840"/>
            <a:ext cx="0" cy="32004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83464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51560"/>
            <a:ext cx="2834640" cy="5943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Address Class Imbalance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96312" y="82296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93726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" y="1801368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(Synthetic Minority Oversampling Technique)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912" y="2715768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class-weighted model parameters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" y="3630168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3520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stroke-positive (minority class) samples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051560"/>
            <a:ext cx="283464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051560"/>
            <a:ext cx="2834640" cy="5943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0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Advanced ML Models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40680" y="822960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937260"/>
            <a:ext cx="274320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383280" y="1801368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7"/>
          <p:cNvSpPr/>
          <p:nvPr/>
        </p:nvSpPr>
        <p:spPr>
          <a:xfrm>
            <a:off x="356616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of Decision Trees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83280" y="2715768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3" name="Text 19"/>
          <p:cNvSpPr/>
          <p:nvPr/>
        </p:nvSpPr>
        <p:spPr>
          <a:xfrm>
            <a:off x="3566160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— gradient boosting methods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83280" y="3630168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5" name="Text 21"/>
          <p:cNvSpPr/>
          <p:nvPr/>
        </p:nvSpPr>
        <p:spPr>
          <a:xfrm>
            <a:off x="3566160" y="3520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(ANN) for deeper patterns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44768" y="1051560"/>
            <a:ext cx="283464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44768" y="1051560"/>
            <a:ext cx="2834640" cy="5943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8" name="Text 24"/>
          <p:cNvSpPr/>
          <p:nvPr/>
        </p:nvSpPr>
        <p:spPr>
          <a:xfrm>
            <a:off x="6236208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385048" y="822960"/>
            <a:ext cx="502920" cy="50292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937260"/>
            <a:ext cx="274320" cy="27432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327648" y="1801368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2" name="Text 27"/>
          <p:cNvSpPr/>
          <p:nvPr/>
        </p:nvSpPr>
        <p:spPr>
          <a:xfrm>
            <a:off x="6510528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interaction features (age × glucose, BMI × hypertension)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27648" y="2715768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4" name="Text 29"/>
          <p:cNvSpPr/>
          <p:nvPr/>
        </p:nvSpPr>
        <p:spPr>
          <a:xfrm>
            <a:off x="6510528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family history, medication data, cholesterol levels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27648" y="3630168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6" name="Text 31"/>
          <p:cNvSpPr/>
          <p:nvPr/>
        </p:nvSpPr>
        <p:spPr>
          <a:xfrm>
            <a:off x="6510528" y="3520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longitudinal health tracking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4572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" y="1490472"/>
            <a:ext cx="457200" cy="45720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91056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44475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achieved ~94% accuracy in predicting non-stroke (negative) cases successfully.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20040" y="2185416"/>
            <a:ext cx="457200" cy="457200"/>
          </a:xfrm>
          <a:prstGeom prst="ellipse">
            <a:avLst/>
          </a:prstGeom>
          <a:solidFill>
            <a:srgbClr val="FB8C0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28600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13969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severely limits detection of actual stroke events — F1 Score must be improved.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20040" y="288036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9809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83464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strongest and most significant predictor of stroke risk across all models.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20040" y="3575304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67588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352958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are major clinical risk factors confirmed by correlation analysis.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20040" y="4270248"/>
            <a:ext cx="457200" cy="457200"/>
          </a:xfrm>
          <a:prstGeom prst="ellipse">
            <a:avLst/>
          </a:prstGeom>
          <a:solidFill>
            <a:srgbClr val="8E24AA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437083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422452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SMOTE and advanced models, this system can effectively support early stroke screening.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200400" y="457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29968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8" name="Text 5"/>
          <p:cNvSpPr/>
          <p:nvPr/>
        </p:nvSpPr>
        <p:spPr>
          <a:xfrm>
            <a:off x="2029968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28416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10" name="Text 7"/>
          <p:cNvSpPr/>
          <p:nvPr/>
        </p:nvSpPr>
        <p:spPr>
          <a:xfrm>
            <a:off x="3328416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26864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12" name="Text 9"/>
          <p:cNvSpPr/>
          <p:nvPr/>
        </p:nvSpPr>
        <p:spPr>
          <a:xfrm>
            <a:off x="4626864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25312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14" name="Text 11"/>
          <p:cNvSpPr/>
          <p:nvPr/>
        </p:nvSpPr>
        <p:spPr>
          <a:xfrm>
            <a:off x="5925312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23760" y="4709160"/>
            <a:ext cx="1188720" cy="320040"/>
          </a:xfrm>
          <a:prstGeom prst="rect">
            <a:avLst/>
          </a:prstGeom>
          <a:solidFill>
            <a:srgbClr val="1558B0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Stroke Prediction</dc:title>
  <dc:subject>PptxGenJS Presentation</dc:subject>
  <dc:creator>PptxGenJS</dc:creator>
  <cp:lastModifiedBy>PptxGenJS</cp:lastModifiedBy>
  <cp:revision>1</cp:revision>
  <dcterms:created xsi:type="dcterms:W3CDTF">2026-04-30T05:30:02Z</dcterms:created>
  <dcterms:modified xsi:type="dcterms:W3CDTF">2026-04-30T05:30:02Z</dcterms:modified>
</cp:coreProperties>
</file>